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Space Mono"/>
      <ns0:bold ns1:id="rIdFont17"/>
      <ns0:regular ns1:id="rIdFont18"/>
    </ns0:embeddedFont>
    <ns0:embeddedFont>
      <ns0:font typeface="DM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7a14897e-400f-4889-bab6-46457310f35e.fntdata" /><ns0:Relationship Id="rIdFont18" Type="http://schemas.openxmlformats.org/officeDocument/2006/relationships/font" Target="fonts/64fe4f52-1073-46f1-9aeb-0686a01d58af.fntdata" /><ns0:Relationship Id="rIdFont19" Type="http://schemas.openxmlformats.org/officeDocument/2006/relationships/font" Target="fonts/91851462-074d-42d2-8a8a-f0758af97e70.fntdata" /><ns0:Relationship Id="rIdFont20" Type="http://schemas.openxmlformats.org/officeDocument/2006/relationships/font" Target="fonts/ed3c7cc6-c203-4fb9-ae27-b343017b991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9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4927103"/>
            <a:ext cx="1524000" cy="371475"/>
          </a:xfrm>
          <a:prstGeom prst="roundRect">
            <a:avLst>
              <a:gd name="adj" fmla="val 10256"/>
            </a:avLst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9400" y="4927103"/>
            <a:ext cx="1181100" cy="371475"/>
          </a:xfrm>
          <a:prstGeom prst="roundRect">
            <a:avLst>
              <a:gd name="adj" fmla="val 10256"/>
            </a:avLst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52900" y="4927103"/>
            <a:ext cx="1952625" cy="371475"/>
          </a:xfrm>
          <a:prstGeom prst="roundRect">
            <a:avLst>
              <a:gd name="adj" fmla="val 10256"/>
            </a:avLst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559421"/>
            <a:ext cx="8667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0B981"/>
                </a:solidFill>
                <a:latin typeface="Space Mono"/>
              </a:rPr>
              <a:t>MACHINE LEARNING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16621"/>
            <a:ext cx="9101137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DM Sans"/>
              </a:rPr>
              <a:t>Decision Trees</a:t>
            </a:r>
            <a:r>
              <a:t>
</a:t>
            </a:r>
            <a:r>
              <a:rPr b="1" sz="3600" i="0" u="none">
                <a:solidFill>
                  <a:srgbClr val="64748B"/>
                </a:solidFill>
                <a:latin typeface="DM Sans"/>
              </a:rPr>
              <a:t>vs.</a:t>
            </a:r>
            <a:r>
              <a:rPr b="1" sz="5400" i="0" u="none">
                <a:solidFill>
                  <a:srgbClr val="FFFFFF"/>
                </a:solidFill>
                <a:latin typeface="DM Sans"/>
              </a:rPr>
              <a:t> K-Nearest Neighbors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29942"/>
            <a:ext cx="67627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DM Sans"/>
              </a:rPr>
              <a:t>A comparative analysis of rule-based logic versus proximity-based prediction.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5003303"/>
            <a:ext cx="13144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Space Mono"/>
              </a:rPr>
              <a:t>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5003303"/>
            <a:ext cx="971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Space Mono"/>
              </a:rPr>
              <a:t>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5300" y="5003303"/>
            <a:ext cx="17430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Space Mono"/>
              </a:rPr>
              <a:t>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9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12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381000"/>
            <a:ext cx="5029200" cy="609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79427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79527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879627"/>
            <a:ext cx="2571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511647"/>
            <a:ext cx="51244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Space Mono"/>
              </a:rPr>
              <a:t>ALGORITHM 01: 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864072"/>
            <a:ext cx="538067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172A"/>
                </a:solidFill>
                <a:latin typeface="DM Sans"/>
              </a:rPr>
              <a:t>Rule-Based Partitioning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29375"/>
            <a:ext cx="2667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6450" y="6429375"/>
            <a:ext cx="1981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Decision Tree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3250852"/>
            <a:ext cx="47720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Hierarchical Structure:</a:t>
            </a:r>
            <a:r>
              <a:rPr b="0" sz="1500" i="0" u="none">
                <a:solidFill>
                  <a:srgbClr val="475569"/>
                </a:solidFill>
                <a:latin typeface="DM Sans"/>
              </a:rPr>
              <a:t> Splits data sequentially from root to leaf nodes.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50952"/>
            <a:ext cx="4743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Feature Selection:</a:t>
            </a:r>
            <a:r>
              <a:rPr b="0" sz="1500" i="0" u="none">
                <a:solidFill>
                  <a:srgbClr val="475569"/>
                </a:solidFill>
                <a:latin typeface="DM Sans"/>
              </a:rPr>
              <a:t> Chooses optimal splits to maximize data homogeneity.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1575" y="4851052"/>
            <a:ext cx="471487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High Interpretability:</a:t>
            </a:r>
            <a:r>
              <a:rPr b="0" sz="1500" i="0" u="none">
                <a:solidFill>
                  <a:srgbClr val="475569"/>
                </a:solidFill>
                <a:latin typeface="DM Sans"/>
              </a:rPr>
              <a:t> Mirrors human decision-making processes visually.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9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009900"/>
            <a:ext cx="3352800" cy="191452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19600" y="3124200"/>
            <a:ext cx="335280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24200"/>
            <a:ext cx="335280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0763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Space Mono"/>
              </a:rPr>
              <a:t>THE MATH BEHIND THE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76325"/>
            <a:ext cx="114300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DM Sans"/>
              </a:rPr>
              <a:t>Splitting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29375"/>
            <a:ext cx="2667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9350" y="6429375"/>
            <a:ext cx="1638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Decision Tree Math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676" y="3400425"/>
            <a:ext cx="357544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DM Sans"/>
              </a:rPr>
              <a:t>Entropy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806" y="3848100"/>
            <a:ext cx="34051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DM Sans"/>
              </a:rPr>
              <a:t>Measures data randomness. Lower entropy means purer nodes.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8276" y="3514725"/>
            <a:ext cx="357544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DM Sans"/>
              </a:rPr>
              <a:t>Information 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3406" y="3962400"/>
            <a:ext cx="34051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DM Sans"/>
              </a:rPr>
              <a:t>Quantifies entropy reduction after a split.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5876" y="3514725"/>
            <a:ext cx="357544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DM Sans"/>
              </a:rPr>
              <a:t>Gini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006" y="3962400"/>
            <a:ext cx="34051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DM Sans"/>
              </a:rPr>
              <a:t>Probability of misclassifying a random instance.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9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12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381000"/>
            <a:ext cx="5029200" cy="609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027908"/>
            <a:ext cx="2857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28008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628108"/>
            <a:ext cx="2857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763017"/>
            <a:ext cx="51244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Space Mono"/>
              </a:rPr>
              <a:t>ALGORITHM 02: K-NEAREST NEIGHBORS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115442"/>
            <a:ext cx="6600825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172A"/>
                </a:solidFill>
                <a:latin typeface="DM Sans"/>
              </a:rPr>
              <a:t>Proximity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29375"/>
            <a:ext cx="2667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53700" y="6429375"/>
            <a:ext cx="1123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KNN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2999333"/>
            <a:ext cx="4686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Instance-Based:</a:t>
            </a:r>
            <a:r>
              <a:rPr b="0" sz="1500" i="0" u="none">
                <a:solidFill>
                  <a:srgbClr val="475569"/>
                </a:solidFill>
                <a:latin typeface="DM Sans"/>
              </a:rPr>
              <a:t> Memorizes training data instead of building a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99433"/>
            <a:ext cx="4743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Distance Metrics:</a:t>
            </a:r>
            <a:r>
              <a:rPr b="0" sz="1500" i="0" u="none">
                <a:solidFill>
                  <a:srgbClr val="475569"/>
                </a:solidFill>
                <a:latin typeface="DM Sans"/>
              </a:rPr>
              <a:t> Relies heavily on Euclidean or Manhattan calculations.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4599533"/>
            <a:ext cx="4686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Lazy Learner:</a:t>
            </a:r>
            <a:r>
              <a:rPr b="0" sz="1500" i="0" u="none">
                <a:solidFill>
                  <a:srgbClr val="475569"/>
                </a:solidFill>
                <a:latin typeface="DM Sans"/>
              </a:rPr>
              <a:t> Zero training time, but computationally heavy at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9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14300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DM Sans"/>
              </a:rPr>
              <a:t>The Crucial Hyperparameter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53012" y="2614612"/>
            <a:ext cx="2607468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b="1" sz="9000" i="0" u="none">
                <a:solidFill>
                  <a:srgbClr val="3B82F6"/>
                </a:solidFill>
                <a:latin typeface="Space Mono"/>
              </a:rPr>
              <a:t>"K"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986212"/>
            <a:ext cx="71437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75569"/>
                </a:solidFill>
                <a:latin typeface="DM Sans"/>
              </a:rPr>
              <a:t>The number of nearest neighbors considered for majority voting. Too small causes overfitting; too large causes underfitting.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29375"/>
            <a:ext cx="2667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7975" y="6429375"/>
            <a:ext cx="1209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KNN Mechanics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9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0" y="2909887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7926" y="3252787"/>
            <a:ext cx="9176146" cy="695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DM Sans"/>
              </a:rPr>
              <a:t>Head-to-Head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725" y="6429375"/>
            <a:ext cx="457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Space Mono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3587" y="6429375"/>
            <a:ext cx="2143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Space Mono"/>
              </a:rPr>
              <a:t>Comparative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9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2500" y="2647950"/>
            <a:ext cx="4762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2647950"/>
            <a:ext cx="4762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" y="762000"/>
            <a:ext cx="10382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Space Mono"/>
              </a:rPr>
              <a:t>COMPUTATIONAL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1076325"/>
            <a:ext cx="112395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DM Sans"/>
              </a:rPr>
              <a:t>Time Complexity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29375"/>
            <a:ext cx="2667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7975" y="6429375"/>
            <a:ext cx="1209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Time &amp;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181225"/>
            <a:ext cx="510063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DM Sans"/>
              </a:rPr>
              <a:t>Decision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181225"/>
            <a:ext cx="510063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B82F6"/>
                </a:solidFill>
                <a:latin typeface="DM Sans"/>
              </a:rPr>
              <a:t>KNN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895600"/>
            <a:ext cx="48577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Training: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Slow. Must calculate splits across all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619500"/>
            <a:ext cx="59531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Prediction: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Extremely fast. Simple if-else traversal.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095750"/>
            <a:ext cx="59531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Memory: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Very low. Only stores tree nodes and logic.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2895600"/>
            <a:ext cx="5715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Training: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Zero. Just stores the dataset (Lazy Learner).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371850"/>
            <a:ext cx="48577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Prediction: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Very slow. Scans entire dataset for distance calculations.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095750"/>
            <a:ext cx="5715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Memory: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Very high. Must hold entire dataset in 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9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52500" y="1714500"/>
          <a:ext cx="10287000" cy="29622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086100"/>
                <a:gridCol w="3600450"/>
                <a:gridCol w="3600450"/>
              </a:tblGrid>
              <a:tr h="740568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DM Sans"/>
                        </a:rPr>
                        <a:t>Factor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DM Sans"/>
                        </a:rPr>
                        <a:t>Decision Tree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B82F6"/>
                          </a:solidFill>
                          <a:latin typeface="DM Sans"/>
                        </a:rPr>
                        <a:t>KNN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0568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DM Sans"/>
                        </a:rPr>
                        <a:t>Feature Scaling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DM Sans"/>
                        </a:rPr>
                        <a:t>Not required. Unaffected by scale.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DM Sans"/>
                        </a:rPr>
                        <a:t>Crucial. Requires normalization.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0568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DM Sans"/>
                        </a:rPr>
                        <a:t>Interpretability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DM Sans"/>
                        </a:rPr>
                        <a:t>High (White-box model).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DM Sans"/>
                        </a:rPr>
                        <a:t>Low (Black-box prediction).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0571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DM Sans"/>
                        </a:rPr>
                        <a:t>High Dimensionality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DM Sans"/>
                        </a:rPr>
                        <a:t>Handles well through selection.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DM Sans"/>
                        </a:rPr>
                        <a:t>Poor. Suffers from curse of dimensionality.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52500" y="762000"/>
            <a:ext cx="112395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DM Sans"/>
              </a:rPr>
              <a:t>Data Handling &amp;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29375"/>
            <a:ext cx="2667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10800" y="6429375"/>
            <a:ext cx="1466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Data Sensitivity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9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866900"/>
            <a:ext cx="11430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390900"/>
            <a:ext cx="1143000" cy="114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975" y="2209800"/>
            <a:ext cx="40005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3733800"/>
            <a:ext cx="5715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66687" y="762000"/>
            <a:ext cx="12525375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DM Sans"/>
              </a:rPr>
              <a:t>Selection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29375"/>
            <a:ext cx="2667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9350" y="6429375"/>
            <a:ext cx="1638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Space Mono"/>
              </a:rPr>
              <a:t>Selection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0300" y="1985962"/>
            <a:ext cx="97917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DM Sans"/>
              </a:rPr>
              <a:t>Use Decision Trees When: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2357437"/>
            <a:ext cx="8934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DM Sans"/>
              </a:rPr>
              <a:t>Interpretability is mandatory for stakeholders, the dataset is large, or when avoiding extensive data preprocessing (like scaling) is preferred.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0300" y="3509962"/>
            <a:ext cx="97917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DM Sans"/>
              </a:rPr>
              <a:t>Use KNN When: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0300" y="3881437"/>
            <a:ext cx="8934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DM Sans"/>
              </a:rPr>
              <a:t>The dataset is small to medium, prediction speed is not critical, and data lacks a defined mathematical distribution (non-parametric approach).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9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2042219"/>
            <a:ext cx="5715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375" y="2804219"/>
            <a:ext cx="100012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DM Sans"/>
              </a:rPr>
              <a:t>Algorithm selection is context dependent.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4129980"/>
            <a:ext cx="83343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94A3B8"/>
                </a:solidFill>
                <a:latin typeface="DM Sans"/>
              </a:rPr>
              <a:t>There is no universal best algorithm. Balance dataset size, available memory, and interpretability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725" y="6429375"/>
            <a:ext cx="457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Space Mono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2275" y="6429375"/>
            <a:ext cx="1143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Space Mono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